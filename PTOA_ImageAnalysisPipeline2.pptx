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5496" userDrawn="1">
          <p15:clr>
            <a:srgbClr val="A4A3A4"/>
          </p15:clr>
        </p15:guide>
        <p15:guide id="4" orient="horz" pos="5568" userDrawn="1">
          <p15:clr>
            <a:srgbClr val="A4A3A4"/>
          </p15:clr>
        </p15:guide>
        <p15:guide id="5" orient="horz" pos="192" userDrawn="1">
          <p15:clr>
            <a:srgbClr val="A4A3A4"/>
          </p15:clr>
        </p15:guide>
        <p15:guide id="6" pos="672" userDrawn="1">
          <p15:clr>
            <a:srgbClr val="A4A3A4"/>
          </p15:clr>
        </p15:guide>
        <p15:guide id="7" orient="horz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83" autoAdjust="0"/>
  </p:normalViewPr>
  <p:slideViewPr>
    <p:cSldViewPr snapToGrid="0" showGuides="1">
      <p:cViewPr>
        <p:scale>
          <a:sx n="120" d="100"/>
          <a:sy n="120" d="100"/>
        </p:scale>
        <p:origin x="1386" y="84"/>
      </p:cViewPr>
      <p:guideLst>
        <p:guide pos="2160"/>
        <p:guide orient="horz" pos="5496"/>
        <p:guide orient="horz" pos="5568"/>
        <p:guide orient="horz" pos="192"/>
        <p:guide pos="672"/>
        <p:guide orient="horz"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08371-2EE1-4AD5-8AAD-1B917E87097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0E667-15F7-40EF-9798-BD22D4B4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4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0E667-15F7-40EF-9798-BD22D4B4CC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95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4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0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4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1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1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7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4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4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6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6607B-1A35-499A-9B28-C398566005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04FAC-B5F3-446B-90EE-FF458D11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5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853146" y="1998193"/>
            <a:ext cx="1156470" cy="5078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Data File</a:t>
            </a:r>
          </a:p>
          <a:p>
            <a:endParaRPr lang="en-US" sz="300" dirty="0"/>
          </a:p>
          <a:p>
            <a:r>
              <a:rPr lang="en-US" sz="1200" dirty="0"/>
              <a:t>dicom_lst2.mat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1807" y="178453"/>
            <a:ext cx="1274388" cy="73866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MRI Files</a:t>
            </a:r>
          </a:p>
          <a:p>
            <a:endParaRPr lang="en-US" sz="600" dirty="0"/>
          </a:p>
          <a:p>
            <a:r>
              <a:rPr lang="en-US" sz="1200" dirty="0"/>
              <a:t>Series Directories</a:t>
            </a:r>
          </a:p>
          <a:p>
            <a:r>
              <a:rPr lang="en-US" sz="1200" dirty="0"/>
              <a:t>i*.</a:t>
            </a:r>
            <a:r>
              <a:rPr lang="en-US" sz="1200" dirty="0" err="1"/>
              <a:t>dcm</a:t>
            </a:r>
            <a:r>
              <a:rPr lang="en-US" sz="1200" dirty="0"/>
              <a:t>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7550" y="1091932"/>
            <a:ext cx="1702902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1.</a:t>
            </a:r>
            <a:r>
              <a:rPr lang="en-US" sz="1200" i="1" dirty="0"/>
              <a:t> dicom_lst2.m</a:t>
            </a:r>
          </a:p>
          <a:p>
            <a:r>
              <a:rPr lang="en-US" sz="1200" dirty="0"/>
              <a:t>- Read Series directories</a:t>
            </a:r>
          </a:p>
          <a:p>
            <a:r>
              <a:rPr lang="en-US" sz="1200" dirty="0"/>
              <a:t>- Read DICOM headers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1880020"/>
            <a:ext cx="2103120" cy="73866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Data File</a:t>
            </a:r>
          </a:p>
          <a:p>
            <a:endParaRPr lang="en-US" sz="600" dirty="0"/>
          </a:p>
          <a:p>
            <a:r>
              <a:rPr lang="en-US" sz="1200" dirty="0"/>
              <a:t>dicom_lst2.xlsx</a:t>
            </a:r>
          </a:p>
          <a:p>
            <a:r>
              <a:rPr lang="en-US" sz="1200" dirty="0"/>
              <a:t>(Information on DICOM series)</a:t>
            </a:r>
          </a:p>
        </p:txBody>
      </p:sp>
      <p:cxnSp>
        <p:nvCxnSpPr>
          <p:cNvPr id="16" name="Straight Connector 15"/>
          <p:cNvCxnSpPr>
            <a:stCxn id="6" idx="2"/>
            <a:endCxn id="9" idx="0"/>
          </p:cNvCxnSpPr>
          <p:nvPr/>
        </p:nvCxnSpPr>
        <p:spPr>
          <a:xfrm>
            <a:off x="3429001" y="917117"/>
            <a:ext cx="0" cy="174815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4569" y="4288982"/>
            <a:ext cx="1444883" cy="461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Segmentation Files</a:t>
            </a:r>
          </a:p>
          <a:p>
            <a:r>
              <a:rPr lang="en-US" sz="1200" dirty="0"/>
              <a:t>*.csv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3801" y="4290699"/>
            <a:ext cx="1470403" cy="461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3.</a:t>
            </a:r>
            <a:r>
              <a:rPr lang="en-US" sz="1200" i="1" dirty="0"/>
              <a:t> plt_csv6.m</a:t>
            </a:r>
          </a:p>
          <a:p>
            <a:r>
              <a:rPr lang="en-US" sz="1200" dirty="0"/>
              <a:t>- Plot segmentations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3116" y="4196649"/>
            <a:ext cx="1875898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Plot Files</a:t>
            </a:r>
          </a:p>
          <a:p>
            <a:r>
              <a:rPr lang="en-US" sz="1200" dirty="0"/>
              <a:t>dig_plt6*.ps/.pdf</a:t>
            </a:r>
          </a:p>
          <a:p>
            <a:r>
              <a:rPr lang="en-US" sz="1200" dirty="0"/>
              <a:t>(Verification of digitization)</a:t>
            </a:r>
          </a:p>
        </p:txBody>
      </p:sp>
      <p:cxnSp>
        <p:nvCxnSpPr>
          <p:cNvPr id="32" name="Straight Connector 31"/>
          <p:cNvCxnSpPr>
            <a:stCxn id="27" idx="3"/>
            <a:endCxn id="28" idx="1"/>
          </p:cNvCxnSpPr>
          <p:nvPr/>
        </p:nvCxnSpPr>
        <p:spPr>
          <a:xfrm>
            <a:off x="1799452" y="4519815"/>
            <a:ext cx="894349" cy="1717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8" idx="3"/>
            <a:endCxn id="29" idx="1"/>
          </p:cNvCxnSpPr>
          <p:nvPr/>
        </p:nvCxnSpPr>
        <p:spPr>
          <a:xfrm flipV="1">
            <a:off x="4164204" y="4519815"/>
            <a:ext cx="428912" cy="1717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9" idx="2"/>
            <a:endCxn id="10" idx="0"/>
          </p:cNvCxnSpPr>
          <p:nvPr/>
        </p:nvCxnSpPr>
        <p:spPr>
          <a:xfrm>
            <a:off x="3429001" y="1738263"/>
            <a:ext cx="2380" cy="259930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1340C16-177F-4089-B92D-9AC7FCEB9886}"/>
              </a:ext>
            </a:extLst>
          </p:cNvPr>
          <p:cNvSpPr txBox="1"/>
          <p:nvPr/>
        </p:nvSpPr>
        <p:spPr>
          <a:xfrm>
            <a:off x="2296111" y="3654841"/>
            <a:ext cx="2266364" cy="5078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Data Files</a:t>
            </a:r>
          </a:p>
          <a:p>
            <a:endParaRPr lang="en-US" sz="300" dirty="0"/>
          </a:p>
          <a:p>
            <a:r>
              <a:rPr lang="en-US" sz="1200" dirty="0"/>
              <a:t>T1rho_S*.mat and T2star_S*.mat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4C32DA-6768-42F7-8BB1-14CAEECF28E2}"/>
              </a:ext>
            </a:extLst>
          </p:cNvPr>
          <p:cNvSpPr txBox="1"/>
          <p:nvPr/>
        </p:nvSpPr>
        <p:spPr>
          <a:xfrm>
            <a:off x="2347728" y="2772044"/>
            <a:ext cx="2167901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2.</a:t>
            </a:r>
            <a:r>
              <a:rPr lang="en-US" sz="1200" i="1" dirty="0"/>
              <a:t> </a:t>
            </a:r>
            <a:r>
              <a:rPr lang="en-US" sz="1200" i="1" dirty="0" err="1"/>
              <a:t>rd_m_dicom.m</a:t>
            </a:r>
            <a:endParaRPr lang="en-US" sz="1200" i="1" dirty="0"/>
          </a:p>
          <a:p>
            <a:r>
              <a:rPr lang="en-US" sz="1200" dirty="0"/>
              <a:t>- Read DICOM files</a:t>
            </a:r>
          </a:p>
          <a:p>
            <a:r>
              <a:rPr lang="en-US" sz="1200" dirty="0"/>
              <a:t>- Register spin lock/echo times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D9DC11-EEAA-4BDA-8F34-BAE3A34E49E8}"/>
              </a:ext>
            </a:extLst>
          </p:cNvPr>
          <p:cNvCxnSpPr>
            <a:cxnSpLocks/>
            <a:stCxn id="10" idx="2"/>
            <a:endCxn id="46" idx="0"/>
          </p:cNvCxnSpPr>
          <p:nvPr/>
        </p:nvCxnSpPr>
        <p:spPr>
          <a:xfrm>
            <a:off x="3431381" y="2506024"/>
            <a:ext cx="298" cy="266020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5A871A1-2189-47EF-A189-F015AB4056B7}"/>
              </a:ext>
            </a:extLst>
          </p:cNvPr>
          <p:cNvCxnSpPr>
            <a:cxnSpLocks/>
            <a:stCxn id="46" idx="2"/>
            <a:endCxn id="44" idx="0"/>
          </p:cNvCxnSpPr>
          <p:nvPr/>
        </p:nvCxnSpPr>
        <p:spPr>
          <a:xfrm flipH="1">
            <a:off x="3429293" y="3418375"/>
            <a:ext cx="2386" cy="236466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50">
            <a:extLst>
              <a:ext uri="{FF2B5EF4-FFF2-40B4-BE49-F238E27FC236}">
                <a16:creationId xmlns:a16="http://schemas.microsoft.com/office/drawing/2014/main" id="{3620A80F-093B-418C-BA7A-657E71832F04}"/>
              </a:ext>
            </a:extLst>
          </p:cNvPr>
          <p:cNvCxnSpPr>
            <a:cxnSpLocks/>
            <a:stCxn id="44" idx="1"/>
            <a:endCxn id="17" idx="1"/>
          </p:cNvCxnSpPr>
          <p:nvPr/>
        </p:nvCxnSpPr>
        <p:spPr>
          <a:xfrm rot="10800000" flipH="1" flipV="1">
            <a:off x="2296111" y="3908757"/>
            <a:ext cx="318680" cy="3696248"/>
          </a:xfrm>
          <a:prstGeom prst="bentConnector3">
            <a:avLst>
              <a:gd name="adj1" fmla="val -71733"/>
            </a:avLst>
          </a:prstGeom>
          <a:ln w="12700">
            <a:solidFill>
              <a:schemeClr val="tx1"/>
            </a:solidFill>
            <a:headEnd type="none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71">
            <a:extLst>
              <a:ext uri="{FF2B5EF4-FFF2-40B4-BE49-F238E27FC236}">
                <a16:creationId xmlns:a16="http://schemas.microsoft.com/office/drawing/2014/main" id="{433C0768-7143-49B2-B25E-C3D69BAC18D9}"/>
              </a:ext>
            </a:extLst>
          </p:cNvPr>
          <p:cNvCxnSpPr>
            <a:cxnSpLocks/>
            <a:stCxn id="27" idx="2"/>
            <a:endCxn id="2" idx="0"/>
          </p:cNvCxnSpPr>
          <p:nvPr/>
        </p:nvCxnSpPr>
        <p:spPr>
          <a:xfrm rot="16200000" flipH="1">
            <a:off x="2106857" y="3720800"/>
            <a:ext cx="293920" cy="23536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36EF0BE-D981-3428-4A8C-710362B89F2F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4280452" y="1415098"/>
            <a:ext cx="962108" cy="464922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C2B8C3-6E47-4B40-C8FD-102B226F720A}"/>
              </a:ext>
            </a:extLst>
          </p:cNvPr>
          <p:cNvSpPr txBox="1"/>
          <p:nvPr/>
        </p:nvSpPr>
        <p:spPr>
          <a:xfrm>
            <a:off x="2690678" y="5044567"/>
            <a:ext cx="1479892" cy="83099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4.</a:t>
            </a:r>
            <a:r>
              <a:rPr lang="en-US" sz="1200" dirty="0"/>
              <a:t> </a:t>
            </a:r>
            <a:r>
              <a:rPr lang="en-US" sz="1200" i="1" dirty="0" err="1"/>
              <a:t>seg_prois_b.m</a:t>
            </a:r>
            <a:endParaRPr lang="en-US" sz="1200" i="1" dirty="0"/>
          </a:p>
          <a:p>
            <a:r>
              <a:rPr lang="en-US" sz="1200" dirty="0"/>
              <a:t>- Plot segmentations</a:t>
            </a:r>
          </a:p>
          <a:p>
            <a:r>
              <a:rPr lang="en-US" sz="1200" dirty="0"/>
              <a:t>- Create masks</a:t>
            </a:r>
          </a:p>
          <a:p>
            <a:r>
              <a:rPr lang="en-US" sz="1200" dirty="0"/>
              <a:t>- Plot masks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258C3-8A97-7705-52D8-758EF8CF794C}"/>
              </a:ext>
            </a:extLst>
          </p:cNvPr>
          <p:cNvSpPr txBox="1"/>
          <p:nvPr/>
        </p:nvSpPr>
        <p:spPr>
          <a:xfrm>
            <a:off x="2571608" y="6179200"/>
            <a:ext cx="1718034" cy="69249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Data Files</a:t>
            </a:r>
          </a:p>
          <a:p>
            <a:endParaRPr lang="en-US" sz="300" dirty="0"/>
          </a:p>
          <a:p>
            <a:r>
              <a:rPr lang="en-US" sz="1200" dirty="0"/>
              <a:t>T1rho_S*_</a:t>
            </a:r>
            <a:r>
              <a:rPr lang="en-US" sz="1200" dirty="0" err="1"/>
              <a:t>prois.mat</a:t>
            </a:r>
            <a:r>
              <a:rPr lang="en-US" sz="1200" dirty="0"/>
              <a:t> and</a:t>
            </a:r>
          </a:p>
          <a:p>
            <a:r>
              <a:rPr lang="en-US" sz="1200" dirty="0"/>
              <a:t>T2star_S*_</a:t>
            </a:r>
            <a:r>
              <a:rPr lang="en-US" sz="1200" dirty="0" err="1"/>
              <a:t>prois.mat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C08EA-5248-4D9C-5AA0-E5BB55F19BD7}"/>
              </a:ext>
            </a:extLst>
          </p:cNvPr>
          <p:cNvSpPr txBox="1"/>
          <p:nvPr/>
        </p:nvSpPr>
        <p:spPr>
          <a:xfrm>
            <a:off x="4529648" y="5027715"/>
            <a:ext cx="1956816" cy="13849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Plot Files</a:t>
            </a:r>
          </a:p>
          <a:p>
            <a:r>
              <a:rPr lang="en-US" sz="1200" dirty="0"/>
              <a:t>S*_ROIs1.ps/.pdf</a:t>
            </a:r>
          </a:p>
          <a:p>
            <a:r>
              <a:rPr lang="en-US" sz="1200" dirty="0"/>
              <a:t>S*_ROIs2.ps/.pdf</a:t>
            </a:r>
          </a:p>
          <a:p>
            <a:r>
              <a:rPr lang="en-US" sz="1200" dirty="0"/>
              <a:t>S*_ROIs3.ps/.pdf</a:t>
            </a:r>
          </a:p>
          <a:p>
            <a:r>
              <a:rPr lang="en-US" sz="1200" dirty="0"/>
              <a:t>S*_ROIs4.ps/.pdf</a:t>
            </a:r>
          </a:p>
          <a:p>
            <a:r>
              <a:rPr lang="en-US" sz="1200"/>
              <a:t>S*_ROIs5</a:t>
            </a:r>
            <a:r>
              <a:rPr lang="en-US" sz="1200" dirty="0"/>
              <a:t>.ps/.pdf</a:t>
            </a:r>
          </a:p>
          <a:p>
            <a:r>
              <a:rPr lang="en-US" sz="1200" dirty="0"/>
              <a:t>(Segmentations/ROIs masks)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8E009-D741-F295-247E-6C5654987E7E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430624" y="5875564"/>
            <a:ext cx="1" cy="303636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725A0F-C0D9-C94C-448E-BC884D4B711E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430625" y="6871697"/>
            <a:ext cx="2" cy="297712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178CF5-7EB7-A31D-B9D1-E720A79AE2E7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2069306" y="5460066"/>
            <a:ext cx="621372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C98A74E-37B6-34D6-0E9A-2792D6568430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4170570" y="5460066"/>
            <a:ext cx="359078" cy="260147"/>
          </a:xfrm>
          <a:prstGeom prst="bentConnector3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62BE66-61CD-24C9-3DC8-A7ACFE6952EA}"/>
              </a:ext>
            </a:extLst>
          </p:cNvPr>
          <p:cNvSpPr txBox="1"/>
          <p:nvPr/>
        </p:nvSpPr>
        <p:spPr>
          <a:xfrm>
            <a:off x="2614791" y="7189506"/>
            <a:ext cx="1637949" cy="83099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5.</a:t>
            </a:r>
            <a:r>
              <a:rPr lang="en-US" sz="1200" dirty="0"/>
              <a:t> </a:t>
            </a:r>
            <a:r>
              <a:rPr lang="en-US" sz="1200" i="1" dirty="0" err="1"/>
              <a:t>mri_fitpsvb.m</a:t>
            </a:r>
            <a:r>
              <a:rPr lang="en-US" sz="1200" i="1" dirty="0"/>
              <a:t>, or</a:t>
            </a:r>
          </a:p>
          <a:p>
            <a:pPr algn="ctr"/>
            <a:r>
              <a:rPr lang="en-US" sz="1200" i="1" dirty="0"/>
              <a:t>mri_fitpsvy1.m,</a:t>
            </a:r>
          </a:p>
          <a:p>
            <a:r>
              <a:rPr lang="en-US" sz="1200" dirty="0"/>
              <a:t>- Calculate T1rho/T2*</a:t>
            </a:r>
          </a:p>
          <a:p>
            <a:r>
              <a:rPr lang="en-US" sz="1200" dirty="0"/>
              <a:t>- Plot T1rho/T2* 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AED84A-45DF-765F-A182-D28F0B90934D}"/>
              </a:ext>
            </a:extLst>
          </p:cNvPr>
          <p:cNvSpPr txBox="1"/>
          <p:nvPr/>
        </p:nvSpPr>
        <p:spPr>
          <a:xfrm>
            <a:off x="4985243" y="7189506"/>
            <a:ext cx="1297984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Plot Files</a:t>
            </a:r>
          </a:p>
          <a:p>
            <a:r>
              <a:rPr lang="en-US" sz="1200" dirty="0" err="1"/>
              <a:t>mri_fitps</a:t>
            </a:r>
            <a:r>
              <a:rPr lang="en-US" sz="1200" dirty="0"/>
              <a:t>*.</a:t>
            </a:r>
            <a:r>
              <a:rPr lang="en-US" sz="1200" dirty="0" err="1"/>
              <a:t>ps</a:t>
            </a:r>
            <a:r>
              <a:rPr lang="en-US" sz="1200" dirty="0"/>
              <a:t>/.pdf</a:t>
            </a:r>
          </a:p>
          <a:p>
            <a:r>
              <a:rPr lang="en-US" sz="1200" dirty="0"/>
              <a:t>(T1rho/T2* plots)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D7D4E1-306B-FD11-B6FF-4F2CDD348FBB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4252740" y="7512672"/>
            <a:ext cx="732503" cy="9233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FE303B-28F5-113E-62FB-EEA950657ED4}"/>
              </a:ext>
            </a:extLst>
          </p:cNvPr>
          <p:cNvSpPr txBox="1"/>
          <p:nvPr/>
        </p:nvSpPr>
        <p:spPr>
          <a:xfrm>
            <a:off x="3668559" y="8363478"/>
            <a:ext cx="1365438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u="sng" dirty="0"/>
              <a:t>Data File</a:t>
            </a:r>
          </a:p>
          <a:p>
            <a:r>
              <a:rPr lang="en-US" sz="1200" dirty="0"/>
              <a:t>mri_fitps.xlsx</a:t>
            </a:r>
          </a:p>
          <a:p>
            <a:r>
              <a:rPr lang="en-US" sz="1200" dirty="0"/>
              <a:t>(T1rho/T2* values)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9919AA-6B07-FD62-3ED8-54753B66DE71}"/>
              </a:ext>
            </a:extLst>
          </p:cNvPr>
          <p:cNvCxnSpPr>
            <a:cxnSpLocks/>
          </p:cNvCxnSpPr>
          <p:nvPr/>
        </p:nvCxnSpPr>
        <p:spPr>
          <a:xfrm>
            <a:off x="3436437" y="8190088"/>
            <a:ext cx="914840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496834-C567-E744-31B3-CD1FAB377806}"/>
              </a:ext>
            </a:extLst>
          </p:cNvPr>
          <p:cNvCxnSpPr>
            <a:cxnSpLocks/>
          </p:cNvCxnSpPr>
          <p:nvPr/>
        </p:nvCxnSpPr>
        <p:spPr>
          <a:xfrm>
            <a:off x="4348557" y="8189825"/>
            <a:ext cx="0" cy="173653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747E02-173E-5C4E-B0EF-21E7D4C201B8}"/>
              </a:ext>
            </a:extLst>
          </p:cNvPr>
          <p:cNvSpPr txBox="1"/>
          <p:nvPr/>
        </p:nvSpPr>
        <p:spPr>
          <a:xfrm>
            <a:off x="1828802" y="8363478"/>
            <a:ext cx="1362456" cy="461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Data File</a:t>
            </a:r>
          </a:p>
          <a:p>
            <a:r>
              <a:rPr lang="en-US" sz="1200" dirty="0" err="1"/>
              <a:t>mri</a:t>
            </a:r>
            <a:r>
              <a:rPr lang="en-US" sz="1200" err="1"/>
              <a:t>_</a:t>
            </a:r>
            <a:r>
              <a:rPr lang="en-US" sz="1200"/>
              <a:t>fitps.</a:t>
            </a:r>
            <a:r>
              <a:rPr lang="en-US" sz="1200" dirty="0" err="1"/>
              <a:t>mat</a:t>
            </a:r>
            <a:endParaRPr lang="en-US" sz="12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702C5ED-A839-28DF-FC38-EF7D77456D68}"/>
              </a:ext>
            </a:extLst>
          </p:cNvPr>
          <p:cNvCxnSpPr>
            <a:cxnSpLocks/>
          </p:cNvCxnSpPr>
          <p:nvPr/>
        </p:nvCxnSpPr>
        <p:spPr>
          <a:xfrm flipH="1">
            <a:off x="2510446" y="8190180"/>
            <a:ext cx="925991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CF8F62D-E94E-CD07-BDF9-26CB2D0E7A42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2510030" y="8185834"/>
            <a:ext cx="0" cy="177644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8EACAF3-9580-84BE-63B8-6335E4B1F09B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3429004" y="8020503"/>
            <a:ext cx="4762" cy="172928"/>
          </a:xfrm>
          <a:prstGeom prst="line">
            <a:avLst/>
          </a:prstGeom>
          <a:ln w="1270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892</TotalTime>
  <Words>249</Words>
  <Application>Microsoft Office PowerPoint</Application>
  <PresentationFormat>Letter Paper (8.5x11 in)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UVM College of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Gardner-Morse, Mack George</dc:creator>
  <cp:lastModifiedBy>Gardner-Morse, Mack G</cp:lastModifiedBy>
  <cp:revision>66</cp:revision>
  <dcterms:created xsi:type="dcterms:W3CDTF">2021-02-03T23:57:13Z</dcterms:created>
  <dcterms:modified xsi:type="dcterms:W3CDTF">2025-11-24T19:44:34Z</dcterms:modified>
</cp:coreProperties>
</file>